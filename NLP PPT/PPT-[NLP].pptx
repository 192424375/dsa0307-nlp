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9" r:id="rId5"/>
    <p:sldId id="260" r:id="rId6"/>
    <p:sldId id="268" r:id="rId7"/>
    <p:sldId id="267" r:id="rId8"/>
    <p:sldId id="261" r:id="rId9"/>
    <p:sldId id="266" r:id="rId10"/>
    <p:sldId id="263" r:id="rId11"/>
    <p:sldId id="264" r:id="rId12"/>
    <p:sldId id="271" r:id="rId13"/>
    <p:sldId id="274" r:id="rId14"/>
    <p:sldId id="275" r:id="rId15"/>
    <p:sldId id="276" r:id="rId16"/>
    <p:sldId id="270" r:id="rId17"/>
    <p:sldId id="265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6B827-95E1-096F-00BA-975F725E8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62A02-07EE-1C47-1F39-6719BCFCC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D9165-9C65-5020-2299-2645FA37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DD83-2762-8273-A46B-6B4B19F4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0A460-A2AE-3561-6CE4-5E40701D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75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B334-972D-5CE2-CBC2-E6D17B0E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7D53-BAEF-6512-A476-A95A1AB04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F78DC-2BA2-1BB4-1D0E-01B5D4CA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658C1-5290-23F3-243E-A8CF9C7B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FA1B-4A5E-76BA-351B-E2D4F6DF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65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77EF-704B-B80E-0D03-E24782342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99A0F-AF61-7DA7-5025-928B995E6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C079E-46A4-322D-402C-C22EAE9D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8F664-B7F8-C2FB-C1DC-C425DDD8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7C1DC-8074-D760-DEFD-48653C5B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833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EE20-824D-3C76-05A3-9C08F649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5A856-BCE9-3DD9-DE7B-19C878E59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95A73-948A-883E-33AD-1F9BEACED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B971F-59FA-CCD2-F35B-3B8BF929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15DB0-CF35-2F74-AB80-2ADE5E211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3EBFE-D152-5507-B92C-9041704E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56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FE43-0F1E-1D93-C798-F7EBE86B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ED81B-0043-A3C6-9021-6D02CBA12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C9F4B-6A5E-8813-67AD-2F29A4F11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8A81C-2351-2AF0-B7E1-734258F66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7DDF3-73C9-B29E-C839-8929B3663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B0EADA-FD61-029C-4EA0-01779EC5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6EF99-DC24-B077-1819-883D99FF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2502DB-7D9A-3726-943D-15D145D6B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701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8FE8-E0F1-30BA-064E-98C4E432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2CF7D-6C66-4F3A-76F6-017E0E6E6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448EE-4A96-1D85-51AA-2D49BC37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D3180-045F-8421-5441-8F80B875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36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92056-3238-B5C0-DE25-6C99D0F4D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B66A4-8741-2B09-0E68-6C9FAD265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42FC6-D6AE-4545-BDCB-B925FEA2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40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6418-492F-E075-4841-030CB8138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197D-8514-7068-E5F3-83CCDD430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0E2B2-C55D-29C9-40BD-FB22C8564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1093E-8DC5-4B7A-147A-EDFB3069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8197F-4442-1BA9-9BE2-52A5FA5E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17226-6E1A-01F3-A694-CFF9482D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944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ABE6-0E5E-0AF6-1658-573953E4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763832-F61D-21F4-E325-C81C487F7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6D732-697E-292F-1C54-F8E63BE72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98858-5C5E-2B6C-AE7F-E7213276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1E9E-7B5D-F406-AFFA-5D2072F97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79B1B-7A67-9FD1-432A-0F3DCF4A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417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A752-1488-952C-4D53-169C0865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6B738-87F4-2C3B-63A1-A12606A70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6433E-0B77-DD85-A86B-F3B0FA2B1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0D97F-B32C-F8B8-CBD9-6180DBF3E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E75A5-BA71-BCC2-24E4-E0BD2F562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25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4DC10-E94C-9E1A-212D-38EB1E732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C3A7F-7605-B772-1C44-82806448F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A187C-7B5F-153F-23C6-D6C342BEF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000D7-19A1-B624-34B5-A97101B5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DE4F6-AB2D-32BC-137C-54B4A6A2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84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383D36-B353-1740-8CCE-CE6389956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80B6B-793D-4F36-759A-12FA6377E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EE6B1-403C-BED8-3260-D29D6525F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B6212-ED8F-4D49-9ECA-BE0DBEC0C91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D314E-23C9-6B6A-CB32-892438326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62317-2C0C-D474-CDAE-20830C7E7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A5942-C7BB-4FA5-A51C-2D2115E28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33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polaroid-letters-2490552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E0336D-6DFD-FFE5-909F-3188FC2D1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157316"/>
            <a:ext cx="11651226" cy="1246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549108-AF08-CB98-7781-55F1D31A7931}"/>
              </a:ext>
            </a:extLst>
          </p:cNvPr>
          <p:cNvSpPr txBox="1"/>
          <p:nvPr/>
        </p:nvSpPr>
        <p:spPr>
          <a:xfrm>
            <a:off x="1278193" y="1789471"/>
            <a:ext cx="89571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News Categorization, Summarization, and Multilingual Recommendation System Using Natural Language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8A759-202C-307A-5EA0-D4EF9D816126}"/>
              </a:ext>
            </a:extLst>
          </p:cNvPr>
          <p:cNvSpPr txBox="1"/>
          <p:nvPr/>
        </p:nvSpPr>
        <p:spPr>
          <a:xfrm>
            <a:off x="6754761" y="4001729"/>
            <a:ext cx="4945626" cy="243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Sahithya (192472186)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Sri Sai Prasanna Durga (192424241)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Ishwarya (192472108)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Nithisha (192424375)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1CB49-C8D2-0282-0DD3-39201627C1CE}"/>
              </a:ext>
            </a:extLst>
          </p:cNvPr>
          <p:cNvSpPr txBox="1"/>
          <p:nvPr/>
        </p:nvSpPr>
        <p:spPr>
          <a:xfrm>
            <a:off x="2281083" y="3293806"/>
            <a:ext cx="6459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DSA0307 – Natural Language 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134AA-66D0-03CD-D52C-4E7A3D447AFB}"/>
              </a:ext>
            </a:extLst>
          </p:cNvPr>
          <p:cNvSpPr txBox="1"/>
          <p:nvPr/>
        </p:nvSpPr>
        <p:spPr>
          <a:xfrm>
            <a:off x="393290" y="4090219"/>
            <a:ext cx="301850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Anbazhagan. K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290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184FF5-00F8-0792-54C1-73669D60027E}"/>
              </a:ext>
            </a:extLst>
          </p:cNvPr>
          <p:cNvSpPr txBox="1"/>
          <p:nvPr/>
        </p:nvSpPr>
        <p:spPr>
          <a:xfrm>
            <a:off x="393290" y="1563329"/>
            <a:ext cx="6027176" cy="4489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 is generated in large amounts every day from different sources and platforms.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relevant information from a large number of news articles can be time-consuming.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 helps computers to understand and process human language.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 AI and NLP to categorize news, generate summaries, and recommend relevant articles.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supports multiple languages to provide a better and personalized news reading experience.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D4A59-4C13-E911-7268-2B03E154D190}"/>
              </a:ext>
            </a:extLst>
          </p:cNvPr>
          <p:cNvSpPr txBox="1"/>
          <p:nvPr/>
        </p:nvSpPr>
        <p:spPr>
          <a:xfrm>
            <a:off x="3578942" y="491614"/>
            <a:ext cx="4316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1D2EA-0936-2F08-266C-EC365F6A1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467" y="1700982"/>
            <a:ext cx="4433120" cy="3657599"/>
          </a:xfrm>
          <a:prstGeom prst="rect">
            <a:avLst/>
          </a:prstGeo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DB94787A-9201-44FD-CDA4-526CABC73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2" y="122525"/>
            <a:ext cx="1458576" cy="1263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38625C-96AE-ED0A-C650-89DB24590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2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DC157-A70A-4764-51D6-820CFBFC6AC2}"/>
              </a:ext>
            </a:extLst>
          </p:cNvPr>
          <p:cNvSpPr txBox="1"/>
          <p:nvPr/>
        </p:nvSpPr>
        <p:spPr>
          <a:xfrm>
            <a:off x="3215148" y="560440"/>
            <a:ext cx="5879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5297DA-8354-E555-F48E-AFCB0A969447}"/>
              </a:ext>
            </a:extLst>
          </p:cNvPr>
          <p:cNvSpPr txBox="1"/>
          <p:nvPr/>
        </p:nvSpPr>
        <p:spPr>
          <a:xfrm>
            <a:off x="658761" y="1759973"/>
            <a:ext cx="9556956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huge amount of daily news makes it difficult for users to find relevant information.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reading long news articles requires more time and effort.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articles are available in different categories and languages, making organization difficult.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struggle to identify the most important information from lengthy articles.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news platforms may not provide personalized recommendations based on user interests.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 AI and NLP-based system is needed to categorize, summarize, and recommend relevant news in multiple languages.</a:t>
            </a: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6A175464-A654-E0C8-26B6-24B6E11B0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2" y="122525"/>
            <a:ext cx="1458576" cy="1263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7091B2-027A-5508-061A-1B3D5C7CD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60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39891C-25EC-662D-7EAD-F1D9B80D68A5}"/>
              </a:ext>
            </a:extLst>
          </p:cNvPr>
          <p:cNvSpPr txBox="1"/>
          <p:nvPr/>
        </p:nvSpPr>
        <p:spPr>
          <a:xfrm>
            <a:off x="2841523" y="501446"/>
            <a:ext cx="58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694B2931-D1EE-412B-A75B-BE10788A9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2" y="108155"/>
            <a:ext cx="1458576" cy="1278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65A549-17B2-4060-20B1-2828E29BA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746EA8-ADD2-E4CC-1750-252E3D118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76621"/>
              </p:ext>
            </p:extLst>
          </p:nvPr>
        </p:nvGraphicFramePr>
        <p:xfrm>
          <a:off x="796412" y="1514168"/>
          <a:ext cx="10422192" cy="4904992"/>
        </p:xfrm>
        <a:graphic>
          <a:graphicData uri="http://schemas.openxmlformats.org/drawingml/2006/table">
            <a:tbl>
              <a:tblPr/>
              <a:tblGrid>
                <a:gridCol w="2605548">
                  <a:extLst>
                    <a:ext uri="{9D8B030D-6E8A-4147-A177-3AD203B41FA5}">
                      <a16:colId xmlns:a16="http://schemas.microsoft.com/office/drawing/2014/main" val="4283610895"/>
                    </a:ext>
                  </a:extLst>
                </a:gridCol>
                <a:gridCol w="2605548">
                  <a:extLst>
                    <a:ext uri="{9D8B030D-6E8A-4147-A177-3AD203B41FA5}">
                      <a16:colId xmlns:a16="http://schemas.microsoft.com/office/drawing/2014/main" val="1481287838"/>
                    </a:ext>
                  </a:extLst>
                </a:gridCol>
                <a:gridCol w="2605548">
                  <a:extLst>
                    <a:ext uri="{9D8B030D-6E8A-4147-A177-3AD203B41FA5}">
                      <a16:colId xmlns:a16="http://schemas.microsoft.com/office/drawing/2014/main" val="3076272785"/>
                    </a:ext>
                  </a:extLst>
                </a:gridCol>
                <a:gridCol w="2605548">
                  <a:extLst>
                    <a:ext uri="{9D8B030D-6E8A-4147-A177-3AD203B41FA5}">
                      <a16:colId xmlns:a16="http://schemas.microsoft.com/office/drawing/2014/main" val="4094031988"/>
                    </a:ext>
                  </a:extLst>
                </a:gridCol>
              </a:tblGrid>
              <a:tr h="233931">
                <a:tc>
                  <a:txBody>
                    <a:bodyPr/>
                    <a:lstStyle/>
                    <a:p>
                      <a:pPr marL="0" marR="0" indent="0"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 i="0" dirty="0" err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1600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74648" marR="74648" marT="37324" marB="37324" anchor="b">
                    <a:lnL w="12700" cap="flat" cmpd="sng" algn="ctr">
                      <a:solidFill>
                        <a:srgbClr val="F02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2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2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2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74648" marR="74648" marT="37324" marB="37324" anchor="b">
                    <a:lnL w="12700" cap="flat" cmpd="sng" algn="ctr">
                      <a:solidFill>
                        <a:srgbClr val="402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2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2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Focus</a:t>
                      </a:r>
                    </a:p>
                  </a:txBody>
                  <a:tcPr marL="74648" marR="74648" marT="37324" marB="37324" anchor="b">
                    <a:lnL w="12700" cap="flat" cmpd="sng" algn="ctr">
                      <a:solidFill>
                        <a:srgbClr val="402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2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2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marL="74648" marR="74648" marT="37324" marB="37324" anchor="b">
                    <a:lnL w="12700" cap="flat" cmpd="sng" algn="ctr">
                      <a:solidFill>
                        <a:srgbClr val="302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2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2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309284"/>
                  </a:ext>
                </a:extLst>
              </a:tr>
              <a:tr h="783502"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502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2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2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6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 &amp; Xie (2026)</a:t>
                      </a:r>
                      <a:endParaRPr lang="en-IN" sz="1600" b="0" i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B02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2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7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news recommendation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A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7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Multi-task learning improves personalized recommendations.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D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7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09810"/>
                  </a:ext>
                </a:extLst>
              </a:tr>
              <a:tr h="1019032"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606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7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6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3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Rani Krishna et al. (2025)</a:t>
                      </a:r>
                      <a:endParaRPr lang="en-IN" sz="1600" b="0" i="0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807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7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7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3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News text summarization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907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7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7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3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models can generate concise and informative news summaries. 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E07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7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7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3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61799"/>
                  </a:ext>
                </a:extLst>
              </a:tr>
              <a:tr h="877714"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C03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3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3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B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 (2024)</a:t>
                      </a:r>
                      <a:endParaRPr lang="en-IN" sz="1600" b="0" i="0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B03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3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3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AF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news summarization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903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3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3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B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 show strong potential for automatic news summarization. 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F03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3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3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B9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400845"/>
                  </a:ext>
                </a:extLst>
              </a:tr>
              <a:tr h="1019032"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20B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AF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B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Kannen et al. (2024)</a:t>
                      </a:r>
                      <a:endParaRPr lang="en-IN" sz="1600" b="0" i="0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90AF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B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AF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News recommendation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80B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B9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B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Learning-to-rank methods improve personalized news ranking. </a:t>
                      </a:r>
                    </a:p>
                  </a:txBody>
                  <a:tcPr marL="74648" marR="74648" marT="37324" marB="37324" anchor="ctr">
                    <a:lnL w="12700" cap="flat" cmpd="sng" algn="ctr">
                      <a:solidFill>
                        <a:srgbClr val="20B9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B9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B9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990000"/>
                  </a:ext>
                </a:extLst>
              </a:tr>
              <a:tr h="898867"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4648" marR="74648" marT="37324" marB="149295" anchor="ctr">
                    <a:lnL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 (2023)</a:t>
                      </a:r>
                      <a:endParaRPr lang="en-IN" sz="1600" b="0" i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48" marR="74648" marT="37324" marB="149295" anchor="ctr">
                    <a:lnL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 for news recommendation</a:t>
                      </a:r>
                    </a:p>
                  </a:txBody>
                  <a:tcPr marL="74648" marR="74648" marT="37324" marB="149295" anchor="ctr">
                    <a:lnL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sz="1600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ChatGPT can improve personalized news recommendations.</a:t>
                      </a:r>
                    </a:p>
                  </a:txBody>
                  <a:tcPr marL="74648" marR="74648" marT="37324" marB="149295" anchor="ctr">
                    <a:lnL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A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556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33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500CF8-9E29-B936-57B4-7C579702587F}"/>
              </a:ext>
            </a:extLst>
          </p:cNvPr>
          <p:cNvSpPr txBox="1"/>
          <p:nvPr/>
        </p:nvSpPr>
        <p:spPr>
          <a:xfrm>
            <a:off x="3834581" y="6096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82393-C1AF-B074-FDD0-4248E242DE5D}"/>
              </a:ext>
            </a:extLst>
          </p:cNvPr>
          <p:cNvSpPr txBox="1"/>
          <p:nvPr/>
        </p:nvSpPr>
        <p:spPr>
          <a:xfrm>
            <a:off x="304800" y="1386348"/>
            <a:ext cx="6213987" cy="605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news articles using Natural Language Processing (NLP) techniques.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 categorize news articles into different topics using AI and NLP techniques.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 short and meaningful summaries from lengthy news articles.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 multilingual news processing for different languages.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 personalized news recommendations based on user interests.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 user-friendly system for quick and efficient access to relevant news.</a:t>
            </a:r>
          </a:p>
          <a:p>
            <a:pPr lvl="0"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024C7-1C42-472A-1C55-BCB4F94D2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077" y="1848466"/>
            <a:ext cx="4581834" cy="3578942"/>
          </a:xfrm>
          <a:prstGeom prst="rect">
            <a:avLst/>
          </a:prstGeo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23C54DDC-60F2-BC81-14D8-6242DB78A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2" y="122525"/>
            <a:ext cx="1458576" cy="1263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7FA6D9-7BD3-D3E3-E33B-3B0269B18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2617" y="206477"/>
            <a:ext cx="1571433" cy="117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9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A136EFB3-9798-168C-46D8-315EE43A0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2" y="167148"/>
            <a:ext cx="1458576" cy="12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B8C211-C731-3D8F-3661-E207D1400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206477"/>
            <a:ext cx="1571433" cy="11798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DB424B-417A-CCDD-E537-C5E7F7D3229E}"/>
              </a:ext>
            </a:extLst>
          </p:cNvPr>
          <p:cNvSpPr txBox="1"/>
          <p:nvPr/>
        </p:nvSpPr>
        <p:spPr>
          <a:xfrm>
            <a:off x="2969343" y="658761"/>
            <a:ext cx="61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FEB4E-CA46-8F65-72D2-71FE06EE0A4C}"/>
              </a:ext>
            </a:extLst>
          </p:cNvPr>
          <p:cNvSpPr txBox="1"/>
          <p:nvPr/>
        </p:nvSpPr>
        <p:spPr>
          <a:xfrm>
            <a:off x="580103" y="1730478"/>
            <a:ext cx="9379974" cy="41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 Artificial Intelligence and Natural Language Processing (NLP) to process and understand news articles.</a:t>
            </a:r>
          </a:p>
          <a:p>
            <a:pPr marL="0" marR="0" lvl="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 articles are first collected and pre processed to remove unwanted content and prepare the text for analysis.</a:t>
            </a:r>
          </a:p>
          <a:p>
            <a:pPr marL="0" marR="0" lvl="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AI-based model categorizes news articles into different topics such as Sports, Politics, Technology, and Business.</a:t>
            </a:r>
          </a:p>
          <a:p>
            <a:pPr marL="0" marR="0" lvl="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 short and meaningful summaries from lengthy news articles.</a:t>
            </a:r>
          </a:p>
          <a:p>
            <a:pPr marL="0" marR="0" lvl="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 multiple languages and recommends relevant news based on user interests and reading preferences.</a:t>
            </a:r>
          </a:p>
          <a:p>
            <a:pPr marL="0" marR="0" lvl="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 personalized and efficient news reading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135151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215369-8591-13AA-752F-D69C662CFEEC}"/>
              </a:ext>
            </a:extLst>
          </p:cNvPr>
          <p:cNvSpPr txBox="1"/>
          <p:nvPr/>
        </p:nvSpPr>
        <p:spPr>
          <a:xfrm>
            <a:off x="2389239" y="560440"/>
            <a:ext cx="6754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11FA41C3-1CD5-0B23-9066-BDAE44BAE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2" y="1"/>
            <a:ext cx="1458576" cy="1386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54DB37-9D1F-F5D4-EBA8-C639FD3E2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842A5D-DEEF-F1EF-6616-3FD629B76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220" y="1386349"/>
            <a:ext cx="9301954" cy="491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2EA433-F1DF-53E9-62A5-C09D99B0557E}"/>
              </a:ext>
            </a:extLst>
          </p:cNvPr>
          <p:cNvSpPr txBox="1"/>
          <p:nvPr/>
        </p:nvSpPr>
        <p:spPr>
          <a:xfrm>
            <a:off x="1887793" y="703007"/>
            <a:ext cx="8008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News Data Collection and Text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F1351-0D1C-53AF-9327-4CDCAECB8B91}"/>
              </a:ext>
            </a:extLst>
          </p:cNvPr>
          <p:cNvSpPr txBox="1"/>
          <p:nvPr/>
        </p:nvSpPr>
        <p:spPr>
          <a:xfrm>
            <a:off x="373627" y="2107463"/>
            <a:ext cx="6754760" cy="4890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news articles from different datasets or online sources.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collected news by removing unwanted symbols, special characters, and duplicate content.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 tokenization to divide the news into words or sentences.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 stop words that do not contribute much to the meaning.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 stemming or lemmatization to normalize the words.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cleaned text for news categorization, summarization, and recommendation.</a:t>
            </a:r>
          </a:p>
          <a:p>
            <a:pPr marR="0" lvl="0" algn="l">
              <a:lnSpc>
                <a:spcPct val="150000"/>
              </a:lnSpc>
              <a:spcAft>
                <a:spcPts val="300"/>
              </a:spcAft>
            </a:pPr>
            <a:endParaRPr lang="en-IN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1DB9B233-6920-F678-6F65-EDE487C66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" y="58995"/>
            <a:ext cx="1458576" cy="1288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2FE1D8-2B77-F1ED-C4F4-EEBADBE46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EE09EA-764D-9CC7-E4A3-3515477027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484" y="2107462"/>
            <a:ext cx="3628103" cy="378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18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269D7-A761-786A-A674-F473149D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EEB1B4-221E-83AB-EC7C-65F65DC9C6AD}"/>
              </a:ext>
            </a:extLst>
          </p:cNvPr>
          <p:cNvSpPr txBox="1"/>
          <p:nvPr/>
        </p:nvSpPr>
        <p:spPr>
          <a:xfrm>
            <a:off x="1671484" y="698091"/>
            <a:ext cx="8308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2: AI-Based News Categorization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93623-15B3-A23B-5455-A75A2C8CEBD1}"/>
              </a:ext>
            </a:extLst>
          </p:cNvPr>
          <p:cNvSpPr txBox="1"/>
          <p:nvPr/>
        </p:nvSpPr>
        <p:spPr>
          <a:xfrm>
            <a:off x="560439" y="1740310"/>
            <a:ext cx="5928852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the pre processed news articles using NLP and machine learning techniques.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 text features to understand the content of each news article.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 AI-based classification model using the prepared news dataset.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classify news into categories such as Sports, Politics, Technology, Business, and Entertainment.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category of new or unseen news articles and display the result to the user. 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27AAEC59-245F-5217-C34E-FC52BE46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" y="58995"/>
            <a:ext cx="1458576" cy="1288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1EF269-C2D0-5B8B-DCB0-480D86A8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36EE7F-E769-C7F6-431A-286BD8438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728" y="2025444"/>
            <a:ext cx="4218039" cy="384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9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7379B5-038B-3868-7A67-39570E67467D}"/>
              </a:ext>
            </a:extLst>
          </p:cNvPr>
          <p:cNvSpPr txBox="1"/>
          <p:nvPr/>
        </p:nvSpPr>
        <p:spPr>
          <a:xfrm>
            <a:off x="1081548" y="776749"/>
            <a:ext cx="10038736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3: Automatic News Summarization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F409F-B8E7-618A-B624-49751558E5E0}"/>
              </a:ext>
            </a:extLst>
          </p:cNvPr>
          <p:cNvSpPr txBox="1"/>
          <p:nvPr/>
        </p:nvSpPr>
        <p:spPr>
          <a:xfrm>
            <a:off x="403123" y="1661652"/>
            <a:ext cx="6361471" cy="4716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 lengthy news articles using Natural Language Processing techniques.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 important information and key sentences from the article.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 concise and meaningful summary while preserving the main ideas.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 unnecessary and repetitive information from the original article.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users with a quick and easy way to understand lengthy news articles.</a:t>
            </a:r>
          </a:p>
          <a:p>
            <a:pPr marR="0" lvl="0" algn="l">
              <a:lnSpc>
                <a:spcPct val="200000"/>
              </a:lnSpc>
              <a:spcAft>
                <a:spcPts val="300"/>
              </a:spcAft>
            </a:pPr>
            <a:endParaRPr lang="en-IN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D2FB708-6891-0279-18EC-FA4109375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50" y="34793"/>
            <a:ext cx="1458576" cy="1288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C6E310-E56B-69B9-A2BA-85872E3C2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pic>
        <p:nvPicPr>
          <p:cNvPr id="2" name="Picture 1" descr="img">
            <a:extLst>
              <a:ext uri="{FF2B5EF4-FFF2-40B4-BE49-F238E27FC236}">
                <a16:creationId xmlns:a16="http://schemas.microsoft.com/office/drawing/2014/main" id="{8422DC74-5AB7-7379-7044-024B6BAEB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394" y="1759974"/>
            <a:ext cx="4414682" cy="424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2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C8F75D-8F2E-8B72-6E80-BAA2846E42FA}"/>
              </a:ext>
            </a:extLst>
          </p:cNvPr>
          <p:cNvSpPr txBox="1"/>
          <p:nvPr/>
        </p:nvSpPr>
        <p:spPr>
          <a:xfrm>
            <a:off x="2271252" y="481782"/>
            <a:ext cx="68727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4: Multilingual News Recommendation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BD9CE-DAE6-B308-3D79-2771D951968C}"/>
              </a:ext>
            </a:extLst>
          </p:cNvPr>
          <p:cNvSpPr txBox="1"/>
          <p:nvPr/>
        </p:nvSpPr>
        <p:spPr>
          <a:xfrm>
            <a:off x="363795" y="1868130"/>
            <a:ext cx="6420464" cy="532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news articles in multiple languages using NLP techniques.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 language and meaning of news content across different languages.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interests and reading preferences to understand their information needs.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 similar and relevant news articles based on the user's interests.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 personalized news in the user's preferred language.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users discover relevant news quickly, regardless of language.</a:t>
            </a:r>
          </a:p>
          <a:p>
            <a:pPr marR="0" lvl="0" algn="l">
              <a:lnSpc>
                <a:spcPct val="200000"/>
              </a:lnSpc>
              <a:spcAft>
                <a:spcPts val="300"/>
              </a:spcAft>
            </a:pPr>
            <a:endParaRPr lang="en-IN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37D1B37C-997E-F4E0-214B-22F691FD5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" y="58995"/>
            <a:ext cx="1458576" cy="1288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A99F07-E5F8-D8F0-DC87-F46EFC500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pic>
        <p:nvPicPr>
          <p:cNvPr id="2" name="Picture 1" descr="Blog | GeoBarta - AI News Summary Insights &amp; Guides | GeoBarta">
            <a:extLst>
              <a:ext uri="{FF2B5EF4-FFF2-40B4-BE49-F238E27FC236}">
                <a16:creationId xmlns:a16="http://schemas.microsoft.com/office/drawing/2014/main" id="{DF3C4C9C-AC3F-5582-8115-DD4554AA2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792" y="2113935"/>
            <a:ext cx="4629111" cy="358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0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F23BD2F5-232C-DBBE-D09F-C09AB0BD4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" y="58995"/>
            <a:ext cx="1458576" cy="1288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E84E0B-51DF-13A9-797D-B0F2F7CC5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5C42B-5CD0-C211-8314-D4C644FC0C16}"/>
              </a:ext>
            </a:extLst>
          </p:cNvPr>
          <p:cNvSpPr txBox="1"/>
          <p:nvPr/>
        </p:nvSpPr>
        <p:spPr>
          <a:xfrm>
            <a:off x="3372465" y="530942"/>
            <a:ext cx="482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2D5FA9-19AC-36FF-3B4D-739004BD4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18" y="1519485"/>
            <a:ext cx="11266563" cy="495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76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1BBA393C-6344-749B-DFF1-FB50FC485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" y="58995"/>
            <a:ext cx="1458576" cy="1288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2F97A9-0B7E-2982-9E7D-56870AA3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442161-4A51-542C-ABE6-AD3C763A5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56" y="1527026"/>
            <a:ext cx="11655288" cy="499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35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4AE61-ABCD-62D4-920B-096CD2317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88" y="1490367"/>
            <a:ext cx="11143623" cy="4860191"/>
          </a:xfrm>
          <a:prstGeom prst="rect">
            <a:avLst/>
          </a:prstGeo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0EC25BD0-F952-7CCD-9272-D42A47350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58576" cy="1288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520FE5-6ED5-B496-1C33-834683BD5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567" y="83197"/>
            <a:ext cx="1571433" cy="126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96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19872-9BE7-5735-ADFF-1DF3ACD5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98" y="1575322"/>
            <a:ext cx="11294347" cy="4806273"/>
          </a:xfrm>
          <a:prstGeom prst="rect">
            <a:avLst/>
          </a:prstGeo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BFBD3DE9-B381-C08D-4611-34B380EF0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58576" cy="1288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3856DD-C16C-93AB-2732-8CE5B3C7F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567" y="83197"/>
            <a:ext cx="1571433" cy="126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62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313CE838-FACB-AEA3-9C59-7F9AF55CB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" y="167148"/>
            <a:ext cx="1458576" cy="1179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1B5F4A-7EF3-1400-B468-6CF7E3880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FD2D64-46BE-6937-C117-CC9B209023FA}"/>
              </a:ext>
            </a:extLst>
          </p:cNvPr>
          <p:cNvSpPr txBox="1"/>
          <p:nvPr/>
        </p:nvSpPr>
        <p:spPr>
          <a:xfrm>
            <a:off x="2408903" y="742751"/>
            <a:ext cx="67350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9A89E-E691-3699-45FA-987040C9AEDE}"/>
              </a:ext>
            </a:extLst>
          </p:cNvPr>
          <p:cNvSpPr txBox="1"/>
          <p:nvPr/>
        </p:nvSpPr>
        <p:spPr>
          <a:xfrm>
            <a:off x="619432" y="1986116"/>
            <a:ext cx="966511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 automatically classify news articles into categories such as Sports, Politics, Technology, Business, and Entertainment.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summarization module generates short and meaningful summaries from lengthy news articles.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processing enables the system to handle news content in different languages.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recommendation module provides relevant news based on user interests and preferences.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combined modules provide a faster and more personalized way of accessing news information.</a:t>
            </a:r>
          </a:p>
          <a:p>
            <a:pPr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research also shows that multilingual recommendation and NLP-based summarization are active areas of development, supporting the relevance of the proposed approach.</a:t>
            </a:r>
            <a:endParaRPr lang="en-IN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681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8BC4EB-3493-98C6-1D18-FC6B1EF02808}"/>
              </a:ext>
            </a:extLst>
          </p:cNvPr>
          <p:cNvSpPr txBox="1"/>
          <p:nvPr/>
        </p:nvSpPr>
        <p:spPr>
          <a:xfrm>
            <a:off x="2271252" y="757084"/>
            <a:ext cx="6872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256B4-3EDE-5462-0249-C25809BD394D}"/>
              </a:ext>
            </a:extLst>
          </p:cNvPr>
          <p:cNvSpPr txBox="1"/>
          <p:nvPr/>
        </p:nvSpPr>
        <p:spPr>
          <a:xfrm>
            <a:off x="619432" y="1858297"/>
            <a:ext cx="9901084" cy="4795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 AI and Natural Language Processing to efficiently process and manage news articles.</a:t>
            </a:r>
          </a:p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automatically categorizes news into different topics and generates short, meaningful summaries.</a:t>
            </a:r>
          </a:p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multilingual feature helps users access and understand news in different languages.</a:t>
            </a:r>
          </a:p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recommendation system provides personalized news based on user interests.</a:t>
            </a:r>
          </a:p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helps users save time, find relevant information, and improve their news reading experience.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777CD0D4-1762-8516-8925-C8E70352E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" y="58995"/>
            <a:ext cx="1458576" cy="1288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FDEA65-CED3-3B7B-511D-E3E225A70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171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66855767-A1B9-588F-56D2-31EA5481D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" y="58995"/>
            <a:ext cx="1458576" cy="1288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8E28D8-9A12-EE73-50C7-AB05E1BF2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617" y="122526"/>
            <a:ext cx="1571433" cy="12638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4E666A-C6E1-6569-C71C-D7B0A2118B05}"/>
              </a:ext>
            </a:extLst>
          </p:cNvPr>
          <p:cNvSpPr txBox="1"/>
          <p:nvPr/>
        </p:nvSpPr>
        <p:spPr>
          <a:xfrm>
            <a:off x="3048000" y="604396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4086F-D098-32B9-61F9-E9516BF829E0}"/>
              </a:ext>
            </a:extLst>
          </p:cNvPr>
          <p:cNvSpPr txBox="1"/>
          <p:nvPr/>
        </p:nvSpPr>
        <p:spPr>
          <a:xfrm>
            <a:off x="806245" y="1848465"/>
            <a:ext cx="9832257" cy="4235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to support more regional and international languages.</a:t>
            </a:r>
          </a:p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 AI and deep learning models can be used to improve news categorization and summarization.</a:t>
            </a:r>
          </a:p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news collection can be integrated to provide the latest news updates.</a:t>
            </a:r>
          </a:p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recommendation system can be improved using advanced user </a:t>
            </a:r>
            <a:r>
              <a:rPr lang="en-IN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preference analysis.</a:t>
            </a:r>
          </a:p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mobile application can be developed for easier access to personalized news.</a:t>
            </a:r>
          </a:p>
          <a:p>
            <a:pPr marL="0" marR="0" lvl="0" indent="-342900" algn="just">
              <a:lnSpc>
                <a:spcPct val="20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to identify fake news and misleading information in the future.</a:t>
            </a:r>
          </a:p>
        </p:txBody>
      </p:sp>
    </p:spTree>
    <p:extLst>
      <p:ext uri="{BB962C8B-B14F-4D97-AF65-F5344CB8AC3E}">
        <p14:creationId xmlns:p14="http://schemas.microsoft.com/office/powerpoint/2010/main" val="3494515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F3989A-9F45-BEB9-9014-8C3EB22E3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658" y="54748"/>
            <a:ext cx="12005187" cy="666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67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1075</Words>
  <Application>Microsoft Office PowerPoint</Application>
  <PresentationFormat>Widescreen</PresentationFormat>
  <Paragraphs>111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sudinasaiprasanna@gmail.com</dc:creator>
  <cp:lastModifiedBy>Mr. Bille</cp:lastModifiedBy>
  <cp:revision>5</cp:revision>
  <dcterms:created xsi:type="dcterms:W3CDTF">2026-08-13T07:15:33Z</dcterms:created>
  <dcterms:modified xsi:type="dcterms:W3CDTF">2026-09-04T12:36:16Z</dcterms:modified>
</cp:coreProperties>
</file>